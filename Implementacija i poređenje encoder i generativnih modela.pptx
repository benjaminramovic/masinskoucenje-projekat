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611-4388-861A-F6DA69FB1A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611-4388-861A-F6DA69FB1A1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611-4388-861A-F6DA69FB1A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611-4388-861A-F6DA69FB1A18}"/>
              </c:ext>
            </c:extLst>
          </c:dPt>
          <c:cat>
            <c:strRef>
              <c:f>Sheet1!$A$2:$A$5</c:f>
              <c:strCache>
                <c:ptCount val="3"/>
                <c:pt idx="0">
                  <c:v>Trening skup</c:v>
                </c:pt>
                <c:pt idx="1">
                  <c:v>Validacioni skup</c:v>
                </c:pt>
                <c:pt idx="2">
                  <c:v>Test skup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</c:v>
                </c:pt>
                <c:pt idx="1">
                  <c:v>0.2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70-4C30-9C46-60A0E6E81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FA646-01B6-426B-A49F-47225D448AF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A3A6A-5C5D-475E-A370-393807B8A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6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6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0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8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7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9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95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1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9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57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87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31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0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AD7AA2-A98E-445E-A91B-1256F0046A1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C45616-9EFC-482F-A2F0-053EEB4D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5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40C6-1459-E78E-739C-51DF98DE9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Implementacija i poređenje encoder i generativnih modela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0D8FD-D1E8-DCFA-6D6C-A71DE941D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8" y="4711885"/>
            <a:ext cx="6987645" cy="1388534"/>
          </a:xfrm>
        </p:spPr>
        <p:txBody>
          <a:bodyPr/>
          <a:lstStyle/>
          <a:p>
            <a:r>
              <a:rPr lang="sr-Latn-RS" dirty="0"/>
              <a:t>Benjamin Ramović</a:t>
            </a:r>
            <a:br>
              <a:rPr lang="sr-Latn-RS" dirty="0"/>
            </a:br>
            <a:r>
              <a:rPr lang="sr-Latn-RS" dirty="0"/>
              <a:t>Mirnesa Čalaković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14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14E76-963C-2548-C2C2-FB3513D7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cilj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53A-89A5-C848-C6C0-8C896AD80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25757"/>
            <a:ext cx="10018713" cy="34654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Problem</a:t>
            </a:r>
          </a:p>
          <a:p>
            <a:pPr marL="0" indent="0">
              <a:buNone/>
            </a:pP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tekstualnih</a:t>
            </a:r>
            <a:r>
              <a:rPr lang="en-US" dirty="0"/>
              <a:t> </a:t>
            </a:r>
            <a:r>
              <a:rPr lang="en-US" dirty="0" err="1"/>
              <a:t>recenzija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Ru</a:t>
            </a:r>
            <a:r>
              <a:rPr lang="sr-Latn-RS" dirty="0"/>
              <a:t>čna analiza je spora i neefikasna</a:t>
            </a:r>
          </a:p>
          <a:p>
            <a:r>
              <a:rPr lang="sr-Latn-RS" dirty="0"/>
              <a:t>Cilj</a:t>
            </a:r>
          </a:p>
          <a:p>
            <a:pPr marL="0" indent="0">
              <a:buNone/>
            </a:pPr>
            <a:r>
              <a:rPr lang="en-US" dirty="0" err="1"/>
              <a:t>Automatsko</a:t>
            </a:r>
            <a:r>
              <a:rPr lang="en-US" dirty="0"/>
              <a:t> </a:t>
            </a:r>
            <a:r>
              <a:rPr lang="en-US" dirty="0" err="1"/>
              <a:t>prepoznavanje</a:t>
            </a:r>
            <a:r>
              <a:rPr lang="en-US" dirty="0"/>
              <a:t> </a:t>
            </a:r>
            <a:r>
              <a:rPr lang="en-US" dirty="0" err="1"/>
              <a:t>karakteristika</a:t>
            </a:r>
            <a:r>
              <a:rPr lang="en-US" dirty="0"/>
              <a:t> </a:t>
            </a:r>
            <a:r>
              <a:rPr lang="en-US" dirty="0" err="1"/>
              <a:t>smeštaja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recenzija</a:t>
            </a:r>
            <a:r>
              <a:rPr lang="en-US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Cleanliness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Location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Luxury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Family Friendly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64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369A-0AB3-7F08-8E03-0453F2FB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Tip problema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EB46A-8617-5E6D-414E-0FD2612B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866899"/>
            <a:ext cx="10018713" cy="3124201"/>
          </a:xfrm>
        </p:spPr>
        <p:txBody>
          <a:bodyPr/>
          <a:lstStyle/>
          <a:p>
            <a:r>
              <a:rPr lang="sr-Latn-RS" b="1" dirty="0"/>
              <a:t>Multi-label klasifikacija </a:t>
            </a:r>
            <a:r>
              <a:rPr lang="en-US" dirty="0"/>
              <a:t>je </a:t>
            </a:r>
            <a:r>
              <a:rPr lang="en-US" dirty="0" err="1"/>
              <a:t>vrsta</a:t>
            </a:r>
            <a:r>
              <a:rPr lang="en-US" dirty="0"/>
              <a:t> </a:t>
            </a:r>
            <a:r>
              <a:rPr lang="en-US" dirty="0" err="1"/>
              <a:t>klasifikacije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primer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pripadati</a:t>
            </a:r>
            <a:r>
              <a:rPr lang="en-US" dirty="0"/>
              <a:t> </a:t>
            </a:r>
            <a:r>
              <a:rPr lang="en-US" b="1" dirty="0" err="1"/>
              <a:t>više</a:t>
            </a:r>
            <a:r>
              <a:rPr lang="en-US" b="1" dirty="0"/>
              <a:t> </a:t>
            </a:r>
            <a:r>
              <a:rPr lang="en-US" b="1" dirty="0" err="1"/>
              <a:t>klasa</a:t>
            </a:r>
            <a:r>
              <a:rPr lang="en-US" b="1" dirty="0"/>
              <a:t> </a:t>
            </a:r>
            <a:r>
              <a:rPr lang="en-US" b="1" dirty="0" err="1"/>
              <a:t>istovremeno</a:t>
            </a:r>
            <a:r>
              <a:rPr lang="en-US" dirty="0"/>
              <a:t>.</a:t>
            </a:r>
            <a:endParaRPr lang="sr-Latn-RS" dirty="0"/>
          </a:p>
          <a:p>
            <a:endParaRPr lang="sr-Latn-R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34F357-702E-904B-AB33-B01963FE6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54966"/>
              </p:ext>
            </p:extLst>
          </p:nvPr>
        </p:nvGraphicFramePr>
        <p:xfrm>
          <a:off x="2429667" y="3429000"/>
          <a:ext cx="81279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32194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07020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54365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sr-Latn-RS" dirty="0"/>
                        <a:t>Binarna klasifikacija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Multi-class classification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Multi-label classification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06948"/>
                  </a:ext>
                </a:extLst>
              </a:tr>
              <a:tr h="812017">
                <a:tc>
                  <a:txBody>
                    <a:bodyPr/>
                    <a:lstStyle/>
                    <a:p>
                      <a:r>
                        <a:rPr lang="en-US" dirty="0"/>
                        <a:t>Samo </a:t>
                      </a:r>
                      <a:r>
                        <a:rPr lang="en-US" dirty="0" err="1"/>
                        <a:t>dve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mogućnosti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Jedan </a:t>
                      </a:r>
                      <a:r>
                        <a:rPr lang="en-US" dirty="0" err="1"/>
                        <a:t>uzorak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pripadati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samo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jednoj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klasi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Jedan </a:t>
                      </a:r>
                      <a:r>
                        <a:rPr lang="en-US" dirty="0" err="1"/>
                        <a:t>uzorak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pripadati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više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klasa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istovremeno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794016"/>
                  </a:ext>
                </a:extLst>
              </a:tr>
              <a:tr h="1186795">
                <a:tc>
                  <a:txBody>
                    <a:bodyPr/>
                    <a:lstStyle/>
                    <a:p>
                      <a:r>
                        <a:rPr lang="sr-Latn-RS" dirty="0"/>
                        <a:t>Spam </a:t>
                      </a:r>
                      <a:r>
                        <a:rPr lang="en-US" dirty="0"/>
                        <a:t>= 1</a:t>
                      </a:r>
                    </a:p>
                    <a:p>
                      <a:r>
                        <a:rPr lang="en-US" dirty="0" err="1"/>
                        <a:t>Nije</a:t>
                      </a:r>
                      <a:r>
                        <a:rPr lang="en-US" dirty="0"/>
                        <a:t> spam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Recen</a:t>
                      </a:r>
                      <a:r>
                        <a:rPr lang="sr-Latn-RS" dirty="0"/>
                        <a:t>zija hotela može biti: pozitivna, negativna ili neutralna.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Recenzija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može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biti</a:t>
                      </a:r>
                      <a:r>
                        <a:rPr lang="en-US" dirty="0"/>
                        <a:t>:</a:t>
                      </a:r>
                    </a:p>
                    <a:p>
                      <a:r>
                        <a:rPr lang="en-US" dirty="0"/>
                        <a:t>Cleanliness = 1 </a:t>
                      </a:r>
                    </a:p>
                    <a:p>
                      <a:r>
                        <a:rPr lang="en-US" dirty="0"/>
                        <a:t>Location = 1 </a:t>
                      </a:r>
                    </a:p>
                    <a:p>
                      <a:r>
                        <a:rPr lang="en-US" dirty="0"/>
                        <a:t>Luxury = 1 </a:t>
                      </a:r>
                    </a:p>
                    <a:p>
                      <a:r>
                        <a:rPr lang="en-US" dirty="0"/>
                        <a:t>Family Friendly = 0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05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22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4070-CAD1-5D96-0DE5-34FABE68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Korišćene tehnologije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A5FA-F478-2D51-DEEC-6E213CBB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Python </a:t>
            </a:r>
            <a:endParaRPr lang="sr-Latn-RS" dirty="0"/>
          </a:p>
          <a:p>
            <a:r>
              <a:rPr lang="en-US" dirty="0"/>
              <a:t>Pandas </a:t>
            </a:r>
            <a:endParaRPr lang="sr-Latn-RS" dirty="0"/>
          </a:p>
          <a:p>
            <a:r>
              <a:rPr lang="en-US" dirty="0"/>
              <a:t>Scikit-learn </a:t>
            </a:r>
            <a:endParaRPr lang="sr-Latn-RS" dirty="0"/>
          </a:p>
          <a:p>
            <a:r>
              <a:rPr lang="en-US" dirty="0" err="1"/>
              <a:t>PyTorch</a:t>
            </a:r>
            <a:r>
              <a:rPr lang="en-US" dirty="0"/>
              <a:t> </a:t>
            </a:r>
            <a:endParaRPr lang="sr-Latn-RS" dirty="0"/>
          </a:p>
          <a:p>
            <a:r>
              <a:rPr lang="en-US" dirty="0" err="1"/>
              <a:t>HuggingFace</a:t>
            </a:r>
            <a:r>
              <a:rPr lang="en-US" dirty="0"/>
              <a:t> Transformers </a:t>
            </a:r>
            <a:endParaRPr lang="sr-Latn-RS" dirty="0"/>
          </a:p>
          <a:p>
            <a:r>
              <a:rPr lang="en-US" dirty="0"/>
              <a:t>BERT </a:t>
            </a:r>
            <a:endParaRPr lang="sr-Latn-RS" dirty="0"/>
          </a:p>
          <a:p>
            <a:r>
              <a:rPr lang="en-US" dirty="0" err="1"/>
              <a:t>LLaMA</a:t>
            </a:r>
            <a:r>
              <a:rPr lang="en-US" dirty="0"/>
              <a:t> </a:t>
            </a:r>
            <a:endParaRPr lang="sr-Latn-RS" dirty="0"/>
          </a:p>
          <a:p>
            <a:r>
              <a:rPr lang="en-US" dirty="0"/>
              <a:t>Matplotlib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ED585-3828-FDB1-6BF0-5E75E5BB9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930" y="2666999"/>
            <a:ext cx="5316348" cy="312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9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7E9C-0103-5F8F-5CBC-75392D1A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Skup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772E-AF37-8F71-C777-396D70AC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Početni dataset</a:t>
            </a:r>
          </a:p>
          <a:p>
            <a:pPr marL="0" indent="0">
              <a:buNone/>
            </a:pPr>
            <a:r>
              <a:rPr lang="sr-Latn-RS" dirty="0"/>
              <a:t>AirBNB Reviews Dataset (Kaggle)</a:t>
            </a:r>
          </a:p>
          <a:p>
            <a:r>
              <a:rPr lang="sr-Latn-RS" dirty="0"/>
              <a:t>Zadržan atribut </a:t>
            </a:r>
            <a:r>
              <a:rPr lang="sr-Latn-RS" b="1" dirty="0"/>
              <a:t>comments</a:t>
            </a:r>
          </a:p>
          <a:p>
            <a:r>
              <a:rPr lang="sr-Latn-RS" dirty="0"/>
              <a:t>Dodatno anotirane klase: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Cleanliness </a:t>
            </a: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Location </a:t>
            </a: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Luxury </a:t>
            </a:r>
            <a:endParaRPr lang="sr-Latn-R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Family Friendly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45320-5D35-4791-2DCA-079585FF1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436" y="2939428"/>
            <a:ext cx="6111860" cy="296034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7F7B0D0-6AA2-4DF7-0228-5F52CDDFCD39}"/>
              </a:ext>
            </a:extLst>
          </p:cNvPr>
          <p:cNvSpPr/>
          <p:nvPr/>
        </p:nvSpPr>
        <p:spPr>
          <a:xfrm>
            <a:off x="10128179" y="4507396"/>
            <a:ext cx="1374844" cy="601318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2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2BE2-26F8-2803-8F7E-3D3E735A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Priprema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B175-A651-12C2-0F1A-89340B31D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005942" cy="3124201"/>
          </a:xfrm>
        </p:spPr>
        <p:txBody>
          <a:bodyPr/>
          <a:lstStyle/>
          <a:p>
            <a:r>
              <a:rPr lang="sr-Latn-RS" dirty="0"/>
              <a:t>Obrada teksta</a:t>
            </a:r>
          </a:p>
          <a:p>
            <a:pPr marL="457200" lvl="1" indent="0">
              <a:buNone/>
            </a:pPr>
            <a:r>
              <a:rPr lang="en-US" dirty="0" err="1"/>
              <a:t>Uklanjanje</a:t>
            </a:r>
            <a:r>
              <a:rPr lang="en-US" dirty="0"/>
              <a:t> HTML </a:t>
            </a:r>
            <a:r>
              <a:rPr lang="en-US" dirty="0" err="1"/>
              <a:t>tagova</a:t>
            </a:r>
            <a:r>
              <a:rPr lang="en-US" dirty="0"/>
              <a:t> </a:t>
            </a:r>
            <a:endParaRPr lang="sr-Latn-RS" dirty="0"/>
          </a:p>
          <a:p>
            <a:pPr marL="457200" lvl="1" indent="0">
              <a:buNone/>
            </a:pPr>
            <a:r>
              <a:rPr lang="en-US" dirty="0" err="1"/>
              <a:t>Uklanjanje</a:t>
            </a:r>
            <a:r>
              <a:rPr lang="en-US" dirty="0"/>
              <a:t> URL-ova </a:t>
            </a:r>
            <a:endParaRPr lang="sr-Latn-RS" dirty="0"/>
          </a:p>
          <a:p>
            <a:pPr marL="457200" lvl="1" indent="0">
              <a:buNone/>
            </a:pPr>
            <a:r>
              <a:rPr lang="en-US" dirty="0" err="1"/>
              <a:t>Uklanjanje</a:t>
            </a:r>
            <a:r>
              <a:rPr lang="en-US" dirty="0"/>
              <a:t> </a:t>
            </a:r>
            <a:r>
              <a:rPr lang="en-US" dirty="0" err="1"/>
              <a:t>specijalnih</a:t>
            </a:r>
            <a:r>
              <a:rPr lang="en-US" dirty="0"/>
              <a:t> </a:t>
            </a:r>
            <a:r>
              <a:rPr lang="en-US" dirty="0" err="1"/>
              <a:t>karaktera</a:t>
            </a:r>
            <a:endParaRPr lang="sr-Latn-R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759DEF-9C1A-FFC6-3B9F-2E4A598CE131}"/>
              </a:ext>
            </a:extLst>
          </p:cNvPr>
          <p:cNvSpPr txBox="1">
            <a:spLocks/>
          </p:cNvSpPr>
          <p:nvPr/>
        </p:nvSpPr>
        <p:spPr>
          <a:xfrm>
            <a:off x="6497082" y="2666998"/>
            <a:ext cx="5005942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/>
              <a:t>Podela podataka (70% - 20% - 10%)</a:t>
            </a:r>
          </a:p>
          <a:p>
            <a:endParaRPr lang="sr-Latn-RS" dirty="0"/>
          </a:p>
          <a:p>
            <a:endParaRPr lang="sr-Latn-RS" dirty="0"/>
          </a:p>
          <a:p>
            <a:pPr marL="457200" lvl="1" indent="0">
              <a:buFont typeface="Arial"/>
              <a:buNone/>
            </a:pPr>
            <a:endParaRPr lang="sr-Latn-R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D00DFC6-34B5-5F0B-3EC1-30CF6A9549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794482"/>
              </p:ext>
            </p:extLst>
          </p:nvPr>
        </p:nvGraphicFramePr>
        <p:xfrm>
          <a:off x="6095999" y="3654287"/>
          <a:ext cx="5005942" cy="2666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1137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5164-7EC8-4E8F-4ADE-F7A61EFA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Encoder model (</a:t>
            </a:r>
            <a:r>
              <a:rPr lang="sr-Latn-RS" b="1" dirty="0"/>
              <a:t>BERT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DE700-C8B6-3A16-3DD3-2E32C2615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BERT</a:t>
            </a:r>
            <a:r>
              <a:rPr lang="en-US" dirty="0"/>
              <a:t> (</a:t>
            </a:r>
            <a:r>
              <a:rPr lang="en-US" i="1" dirty="0"/>
              <a:t>Bidirectional Encoder Representations from Transformers</a:t>
            </a:r>
            <a:r>
              <a:rPr lang="en-US" dirty="0"/>
              <a:t>) je </a:t>
            </a:r>
            <a:r>
              <a:rPr lang="en-US" dirty="0" err="1"/>
              <a:t>jezički</a:t>
            </a:r>
            <a:r>
              <a:rPr lang="en-US" dirty="0"/>
              <a:t> model </a:t>
            </a:r>
            <a:r>
              <a:rPr lang="en-US" dirty="0" err="1"/>
              <a:t>zasnovan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transformer </a:t>
            </a:r>
            <a:r>
              <a:rPr lang="en-US" dirty="0" err="1"/>
              <a:t>arhitekturi</a:t>
            </a:r>
            <a:r>
              <a:rPr lang="en-US" dirty="0"/>
              <a:t> koji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dvostrano</a:t>
            </a:r>
            <a:r>
              <a:rPr lang="en-US" dirty="0"/>
              <a:t>, </a:t>
            </a:r>
            <a:r>
              <a:rPr lang="en-US" dirty="0" err="1"/>
              <a:t>hvatajući</a:t>
            </a:r>
            <a:r>
              <a:rPr lang="en-US" dirty="0"/>
              <a:t> </a:t>
            </a:r>
            <a:r>
              <a:rPr lang="en-US" dirty="0" err="1"/>
              <a:t>kontekst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leve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desne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. 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tradicionalnih</a:t>
            </a:r>
            <a:r>
              <a:rPr lang="en-US" dirty="0"/>
              <a:t> </a:t>
            </a:r>
            <a:r>
              <a:rPr lang="en-US" dirty="0" err="1"/>
              <a:t>jednostranih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,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dublje</a:t>
            </a:r>
            <a:r>
              <a:rPr lang="en-US" dirty="0"/>
              <a:t> </a:t>
            </a:r>
            <a:r>
              <a:rPr lang="en-US" dirty="0" err="1"/>
              <a:t>semantičko</a:t>
            </a:r>
            <a:r>
              <a:rPr lang="en-US" dirty="0"/>
              <a:t> </a:t>
            </a:r>
            <a:r>
              <a:rPr lang="en-US" dirty="0" err="1"/>
              <a:t>razumevanje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čini</a:t>
            </a:r>
            <a:r>
              <a:rPr lang="en-US" dirty="0"/>
              <a:t> BERT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efikasnim</a:t>
            </a:r>
            <a:r>
              <a:rPr lang="en-US" dirty="0"/>
              <a:t> za </a:t>
            </a:r>
            <a:r>
              <a:rPr lang="en-US" dirty="0" err="1"/>
              <a:t>zadatke</a:t>
            </a:r>
            <a:r>
              <a:rPr lang="en-US" dirty="0"/>
              <a:t> </a:t>
            </a:r>
            <a:r>
              <a:rPr lang="en-US" dirty="0" err="1"/>
              <a:t>razumevanja</a:t>
            </a:r>
            <a:r>
              <a:rPr lang="en-US" dirty="0"/>
              <a:t> </a:t>
            </a:r>
            <a:r>
              <a:rPr lang="en-US" dirty="0" err="1"/>
              <a:t>prirodnog</a:t>
            </a:r>
            <a:r>
              <a:rPr lang="en-US" dirty="0"/>
              <a:t> </a:t>
            </a:r>
            <a:r>
              <a:rPr lang="en-US" dirty="0" err="1"/>
              <a:t>jezika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Sadrži samo encoder deo transformera.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8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8F19-8E2B-741D-E3AA-1188E75D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Encoder model (</a:t>
            </a:r>
            <a:r>
              <a:rPr lang="sr-Latn-RS" b="1" dirty="0"/>
              <a:t>BERT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EEF1-5409-199C-A5F1-811189718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01797"/>
            <a:ext cx="10018713" cy="3189403"/>
          </a:xfrm>
        </p:spPr>
        <p:txBody>
          <a:bodyPr>
            <a:noAutofit/>
          </a:bodyPr>
          <a:lstStyle/>
          <a:p>
            <a:r>
              <a:rPr lang="en-US" sz="1400" b="1" dirty="0"/>
              <a:t>Model</a:t>
            </a:r>
          </a:p>
          <a:p>
            <a:pPr marL="457200" lvl="1" indent="0">
              <a:buNone/>
            </a:pPr>
            <a:r>
              <a:rPr lang="en-US" sz="1400" dirty="0" err="1"/>
              <a:t>bert</a:t>
            </a:r>
            <a:r>
              <a:rPr lang="en-US" sz="1400" dirty="0"/>
              <a:t>-base-uncased </a:t>
            </a:r>
          </a:p>
          <a:p>
            <a:r>
              <a:rPr lang="en-US" sz="1400" b="1" dirty="0" err="1"/>
              <a:t>Podešavanja</a:t>
            </a:r>
            <a:endParaRPr lang="en-US" sz="1400" b="1" dirty="0"/>
          </a:p>
          <a:p>
            <a:pPr marL="457200" lvl="1" indent="0">
              <a:buNone/>
            </a:pPr>
            <a:r>
              <a:rPr lang="en-US" sz="1400" dirty="0"/>
              <a:t>4 </a:t>
            </a:r>
            <a:r>
              <a:rPr lang="en-US" sz="1400" dirty="0" err="1"/>
              <a:t>izlaza</a:t>
            </a:r>
            <a:r>
              <a:rPr lang="en-US" sz="1400" dirty="0"/>
              <a:t> </a:t>
            </a:r>
          </a:p>
          <a:p>
            <a:pPr marL="457200" lvl="1" indent="0">
              <a:buNone/>
            </a:pPr>
            <a:r>
              <a:rPr lang="en-US" sz="1400" dirty="0"/>
              <a:t>Multi-label </a:t>
            </a:r>
            <a:r>
              <a:rPr lang="en-US" sz="1400" dirty="0" err="1"/>
              <a:t>klasifikacija</a:t>
            </a:r>
            <a:r>
              <a:rPr lang="en-US" sz="1400" dirty="0"/>
              <a:t> </a:t>
            </a:r>
          </a:p>
          <a:p>
            <a:pPr marL="457200" lvl="1" indent="0">
              <a:buNone/>
            </a:pPr>
            <a:r>
              <a:rPr lang="en-US" sz="1400" dirty="0"/>
              <a:t>Sigmoid </a:t>
            </a:r>
            <a:r>
              <a:rPr lang="en-US" sz="1400" dirty="0" err="1"/>
              <a:t>aktivacija</a:t>
            </a:r>
            <a:r>
              <a:rPr lang="en-US" sz="1400" dirty="0"/>
              <a:t> </a:t>
            </a:r>
          </a:p>
          <a:p>
            <a:r>
              <a:rPr lang="en-US" sz="1400" b="1" dirty="0" err="1"/>
              <a:t>Hiperparametri</a:t>
            </a:r>
            <a:endParaRPr lang="en-US" sz="1400" b="1" dirty="0"/>
          </a:p>
          <a:p>
            <a:pPr marL="457200" lvl="1" indent="0">
              <a:buNone/>
            </a:pPr>
            <a:r>
              <a:rPr lang="en-US" sz="1400" dirty="0"/>
              <a:t>Epochs: 3 </a:t>
            </a:r>
          </a:p>
          <a:p>
            <a:pPr marL="457200" lvl="1" indent="0">
              <a:buNone/>
            </a:pPr>
            <a:r>
              <a:rPr lang="en-US" sz="1400" dirty="0"/>
              <a:t>Train batch size: 4 </a:t>
            </a:r>
          </a:p>
          <a:p>
            <a:pPr marL="457200" lvl="1" indent="0">
              <a:buNone/>
            </a:pPr>
            <a:r>
              <a:rPr lang="en-US" sz="1400" dirty="0"/>
              <a:t>Eval batch size: 8</a:t>
            </a:r>
          </a:p>
          <a:p>
            <a:pPr marL="0" indent="0">
              <a:buNone/>
            </a:pPr>
            <a:r>
              <a:rPr lang="sr-Latn-RS" sz="1400" dirty="0"/>
              <a:t> </a:t>
            </a:r>
          </a:p>
          <a:p>
            <a:r>
              <a:rPr lang="sr-Latn-RS" sz="1400" dirty="0"/>
              <a:t>Korišćen je pretreniran model i izvršen fine-tuning na</a:t>
            </a:r>
          </a:p>
          <a:p>
            <a:pPr marL="0" indent="0">
              <a:buNone/>
            </a:pPr>
            <a:r>
              <a:rPr lang="sr-Latn-RS" sz="1400" dirty="0"/>
              <a:t>         specifičnom skupu podataka.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D763E-35B2-A163-858A-228788B00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788" y="2221843"/>
            <a:ext cx="3809831" cy="395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9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5764-F109-C08F-F5D3-5FA73206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Encoder model (BERT) - rezultati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DCF8-D5E4-B241-1D64-F6968766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Za multilabel klasifikaciju najbitnije metrike su Micro F1 i Macro F1 score.</a:t>
            </a:r>
          </a:p>
          <a:p>
            <a:r>
              <a:rPr lang="sr-Latn-RS" dirty="0"/>
              <a:t>Tačnost može da </a:t>
            </a:r>
            <a:r>
              <a:rPr lang="en-US" dirty="0"/>
              <a:t> ,,</a:t>
            </a:r>
            <a:r>
              <a:rPr lang="en-US" dirty="0" err="1"/>
              <a:t>zavara</a:t>
            </a:r>
            <a:r>
              <a:rPr lang="en-US" dirty="0"/>
              <a:t>”.</a:t>
            </a: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A4AAFF5-4F23-33C2-14C1-8E62658B05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2636645"/>
              </p:ext>
            </p:extLst>
          </p:nvPr>
        </p:nvGraphicFramePr>
        <p:xfrm>
          <a:off x="1903382" y="2570921"/>
          <a:ext cx="8385235" cy="1716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3304">
                  <a:extLst>
                    <a:ext uri="{9D8B030D-6E8A-4147-A177-3AD203B41FA5}">
                      <a16:colId xmlns:a16="http://schemas.microsoft.com/office/drawing/2014/main" val="1359706969"/>
                    </a:ext>
                  </a:extLst>
                </a:gridCol>
                <a:gridCol w="1071852">
                  <a:extLst>
                    <a:ext uri="{9D8B030D-6E8A-4147-A177-3AD203B41FA5}">
                      <a16:colId xmlns:a16="http://schemas.microsoft.com/office/drawing/2014/main" val="466265158"/>
                    </a:ext>
                  </a:extLst>
                </a:gridCol>
                <a:gridCol w="984921">
                  <a:extLst>
                    <a:ext uri="{9D8B030D-6E8A-4147-A177-3AD203B41FA5}">
                      <a16:colId xmlns:a16="http://schemas.microsoft.com/office/drawing/2014/main" val="1721633302"/>
                    </a:ext>
                  </a:extLst>
                </a:gridCol>
                <a:gridCol w="984921">
                  <a:extLst>
                    <a:ext uri="{9D8B030D-6E8A-4147-A177-3AD203B41FA5}">
                      <a16:colId xmlns:a16="http://schemas.microsoft.com/office/drawing/2014/main" val="4280797110"/>
                    </a:ext>
                  </a:extLst>
                </a:gridCol>
                <a:gridCol w="1071852">
                  <a:extLst>
                    <a:ext uri="{9D8B030D-6E8A-4147-A177-3AD203B41FA5}">
                      <a16:colId xmlns:a16="http://schemas.microsoft.com/office/drawing/2014/main" val="773839799"/>
                    </a:ext>
                  </a:extLst>
                </a:gridCol>
                <a:gridCol w="1003417">
                  <a:extLst>
                    <a:ext uri="{9D8B030D-6E8A-4147-A177-3AD203B41FA5}">
                      <a16:colId xmlns:a16="http://schemas.microsoft.com/office/drawing/2014/main" val="2503293404"/>
                    </a:ext>
                  </a:extLst>
                </a:gridCol>
                <a:gridCol w="1003417">
                  <a:extLst>
                    <a:ext uri="{9D8B030D-6E8A-4147-A177-3AD203B41FA5}">
                      <a16:colId xmlns:a16="http://schemas.microsoft.com/office/drawing/2014/main" val="2224343127"/>
                    </a:ext>
                  </a:extLst>
                </a:gridCol>
                <a:gridCol w="1321551">
                  <a:extLst>
                    <a:ext uri="{9D8B030D-6E8A-4147-A177-3AD203B41FA5}">
                      <a16:colId xmlns:a16="http://schemas.microsoft.com/office/drawing/2014/main" val="2841866759"/>
                    </a:ext>
                  </a:extLst>
                </a:gridCol>
              </a:tblGrid>
              <a:tr h="1300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Test loss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Precision (Micro)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Recall (Micro)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F1-score (Micro)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Precision (Macro)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Recall (Macro)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F1-score (Macro)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Accuracy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420899"/>
                  </a:ext>
                </a:extLst>
              </a:tr>
              <a:tr h="416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0.1558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0.9320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0.9122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0.9220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0.8924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0.8523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0.8711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0.8350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402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817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B793-173F-116A-EF96-53DC1ADD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373"/>
            <a:ext cx="10018713" cy="1752599"/>
          </a:xfrm>
        </p:spPr>
        <p:txBody>
          <a:bodyPr/>
          <a:lstStyle/>
          <a:p>
            <a:r>
              <a:rPr lang="en-US" dirty="0" err="1"/>
              <a:t>Generativni</a:t>
            </a:r>
            <a:r>
              <a:rPr lang="en-US" dirty="0"/>
              <a:t> prompt-based model (Qwen LLM)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3B6EAB0-93C5-358F-2E64-62E710995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029" y="2657572"/>
            <a:ext cx="10018713" cy="3124201"/>
          </a:xfrm>
        </p:spPr>
        <p:txBody>
          <a:bodyPr/>
          <a:lstStyle/>
          <a:p>
            <a:r>
              <a:rPr lang="en-US" dirty="0" err="1"/>
              <a:t>Generativni</a:t>
            </a:r>
            <a:r>
              <a:rPr lang="en-US" dirty="0"/>
              <a:t> prompt-based model (Qwen LLM)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u </a:t>
            </a:r>
            <a:r>
              <a:rPr lang="en-US" dirty="0" err="1"/>
              <a:t>kojem</a:t>
            </a:r>
            <a:r>
              <a:rPr lang="en-US" dirty="0"/>
              <a:t> se </a:t>
            </a:r>
            <a:r>
              <a:rPr lang="en-US" dirty="0" err="1"/>
              <a:t>klasifikacija</a:t>
            </a:r>
            <a:r>
              <a:rPr lang="en-US" dirty="0"/>
              <a:t> </a:t>
            </a:r>
            <a:r>
              <a:rPr lang="en-US" dirty="0" err="1"/>
              <a:t>tekstualnih</a:t>
            </a:r>
            <a:r>
              <a:rPr lang="en-US" dirty="0"/>
              <a:t> </a:t>
            </a:r>
            <a:r>
              <a:rPr lang="en-US" dirty="0" err="1"/>
              <a:t>recenzija</a:t>
            </a:r>
            <a:r>
              <a:rPr lang="en-US" dirty="0"/>
              <a:t> ne </a:t>
            </a:r>
            <a:r>
              <a:rPr lang="en-US" dirty="0" err="1"/>
              <a:t>vrši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specijalizovanu</a:t>
            </a:r>
            <a:r>
              <a:rPr lang="en-US" dirty="0"/>
              <a:t> </a:t>
            </a:r>
            <a:r>
              <a:rPr lang="en-US" dirty="0" err="1"/>
              <a:t>izlaznu</a:t>
            </a:r>
            <a:r>
              <a:rPr lang="en-US" dirty="0"/>
              <a:t> </a:t>
            </a:r>
            <a:r>
              <a:rPr lang="en-US" dirty="0" err="1"/>
              <a:t>glavu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generisanje</a:t>
            </a:r>
            <a:r>
              <a:rPr lang="en-US" dirty="0"/>
              <a:t> </a:t>
            </a:r>
            <a:r>
              <a:rPr lang="en-US" dirty="0" err="1"/>
              <a:t>odgovora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datog</a:t>
            </a:r>
            <a:r>
              <a:rPr lang="en-US" dirty="0"/>
              <a:t> </a:t>
            </a:r>
            <a:r>
              <a:rPr lang="en-US" dirty="0" err="1"/>
              <a:t>prompta</a:t>
            </a:r>
            <a:r>
              <a:rPr lang="en-US" dirty="0"/>
              <a:t>. Model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ulazu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recenziju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instrukciju</a:t>
            </a:r>
            <a:r>
              <a:rPr lang="en-US" dirty="0"/>
              <a:t> u </a:t>
            </a:r>
            <a:r>
              <a:rPr lang="en-US" dirty="0" err="1"/>
              <a:t>obliku</a:t>
            </a:r>
            <a:r>
              <a:rPr lang="en-US" dirty="0"/>
              <a:t> </a:t>
            </a:r>
            <a:r>
              <a:rPr lang="en-US" dirty="0" err="1"/>
              <a:t>prompta</a:t>
            </a:r>
            <a:r>
              <a:rPr lang="en-US" dirty="0"/>
              <a:t>,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čega</a:t>
            </a:r>
            <a:r>
              <a:rPr lang="en-US" dirty="0"/>
              <a:t> </a:t>
            </a:r>
            <a:r>
              <a:rPr lang="en-US" dirty="0" err="1"/>
              <a:t>generiše</a:t>
            </a:r>
            <a:r>
              <a:rPr lang="en-US" dirty="0"/>
              <a:t> </a:t>
            </a:r>
            <a:r>
              <a:rPr lang="en-US" dirty="0" err="1"/>
              <a:t>tekstualni</a:t>
            </a:r>
            <a:r>
              <a:rPr lang="en-US" dirty="0"/>
              <a:t> </a:t>
            </a:r>
            <a:r>
              <a:rPr lang="en-US" dirty="0" err="1"/>
              <a:t>izlaz</a:t>
            </a:r>
            <a:r>
              <a:rPr lang="en-US" dirty="0"/>
              <a:t> koji se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mapira</a:t>
            </a:r>
            <a:r>
              <a:rPr lang="en-US" dirty="0"/>
              <a:t> u </a:t>
            </a:r>
            <a:r>
              <a:rPr lang="en-US" dirty="0" err="1"/>
              <a:t>unapred</a:t>
            </a:r>
            <a:r>
              <a:rPr lang="en-US" dirty="0"/>
              <a:t> </a:t>
            </a:r>
            <a:r>
              <a:rPr lang="en-US" dirty="0" err="1"/>
              <a:t>definisane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“yes/no”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oznake</a:t>
            </a:r>
            <a:r>
              <a:rPr lang="en-US" dirty="0"/>
              <a:t> za </a:t>
            </a:r>
            <a:r>
              <a:rPr lang="en-US" dirty="0" err="1"/>
              <a:t>pojedinačne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77554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80917-A85B-A325-5E52-4133FEA1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</a:t>
            </a:r>
            <a:r>
              <a:rPr lang="en-US" dirty="0" err="1"/>
              <a:t>pristup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A144-BFC4-9790-9F08-CEB3B6594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model se </a:t>
            </a:r>
            <a:r>
              <a:rPr lang="en-US" dirty="0" err="1"/>
              <a:t>koristi</a:t>
            </a:r>
            <a:r>
              <a:rPr lang="en-US" dirty="0"/>
              <a:t> u zero-shot (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eventualno</a:t>
            </a:r>
            <a:r>
              <a:rPr lang="en-US" dirty="0"/>
              <a:t> few-shot) </a:t>
            </a:r>
            <a:r>
              <a:rPr lang="en-US" dirty="0" err="1"/>
              <a:t>režimu</a:t>
            </a:r>
            <a:r>
              <a:rPr lang="en-US" dirty="0"/>
              <a:t>, bez </a:t>
            </a:r>
            <a:r>
              <a:rPr lang="en-US" dirty="0" err="1"/>
              <a:t>dodatnog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specifičnom</a:t>
            </a:r>
            <a:r>
              <a:rPr lang="en-US" dirty="0"/>
              <a:t> </a:t>
            </a:r>
            <a:r>
              <a:rPr lang="en-US" dirty="0" err="1"/>
              <a:t>datasetu</a:t>
            </a:r>
            <a:r>
              <a:rPr lang="en-US" dirty="0"/>
              <a:t>. To </a:t>
            </a:r>
            <a:r>
              <a:rPr lang="en-US" dirty="0" err="1"/>
              <a:t>znači</a:t>
            </a:r>
            <a:r>
              <a:rPr lang="en-US" dirty="0"/>
              <a:t> da model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fino</a:t>
            </a:r>
            <a:r>
              <a:rPr lang="en-US" dirty="0"/>
              <a:t> </a:t>
            </a:r>
            <a:r>
              <a:rPr lang="en-US" dirty="0" err="1"/>
              <a:t>podešen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zadatak,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unapred</a:t>
            </a:r>
            <a:r>
              <a:rPr lang="en-US" dirty="0"/>
              <a:t> </a:t>
            </a:r>
            <a:r>
              <a:rPr lang="en-US" dirty="0" err="1"/>
              <a:t>naučeno</a:t>
            </a:r>
            <a:r>
              <a:rPr lang="en-US" dirty="0"/>
              <a:t> </a:t>
            </a:r>
            <a:r>
              <a:rPr lang="en-US" dirty="0" err="1"/>
              <a:t>znanje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pretreniranja</a:t>
            </a:r>
            <a:r>
              <a:rPr lang="en-US" dirty="0"/>
              <a:t>. </a:t>
            </a:r>
            <a:r>
              <a:rPr lang="en-US" dirty="0" err="1"/>
              <a:t>Kvalitet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u </a:t>
            </a:r>
            <a:r>
              <a:rPr lang="en-US" dirty="0" err="1"/>
              <a:t>velikoj</a:t>
            </a:r>
            <a:r>
              <a:rPr lang="en-US" dirty="0"/>
              <a:t> meri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formulacije</a:t>
            </a:r>
            <a:r>
              <a:rPr lang="en-US" dirty="0"/>
              <a:t> </a:t>
            </a:r>
            <a:r>
              <a:rPr lang="en-US" dirty="0" err="1"/>
              <a:t>prompta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sposobnosti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da </a:t>
            </a:r>
            <a:r>
              <a:rPr lang="en-US" dirty="0" err="1"/>
              <a:t>generiše</a:t>
            </a:r>
            <a:r>
              <a:rPr lang="en-US" dirty="0"/>
              <a:t> </a:t>
            </a:r>
            <a:r>
              <a:rPr lang="en-US" dirty="0" err="1"/>
              <a:t>strukturirane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konzistentne</a:t>
            </a:r>
            <a:r>
              <a:rPr lang="en-US" dirty="0"/>
              <a:t> </a:t>
            </a:r>
            <a:r>
              <a:rPr lang="en-US" dirty="0" err="1"/>
              <a:t>odgovore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37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2C41-D919-3BCD-F589-B90FB6A4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prompta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E254F7-9D10-429D-C62B-D7FAC9C98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594" y="2438399"/>
            <a:ext cx="7506145" cy="386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A610-76A8-FAD4-E749-AC370405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43B7-F4E4-FDEC-7855-950A64EE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Generativni</a:t>
            </a:r>
            <a:r>
              <a:rPr lang="en-US" dirty="0"/>
              <a:t> model </a:t>
            </a:r>
            <a:r>
              <a:rPr lang="sr-Latn-RS" dirty="0"/>
              <a:t>(</a:t>
            </a:r>
            <a:r>
              <a:rPr lang="en-US" dirty="0"/>
              <a:t>QWEN LLM</a:t>
            </a:r>
            <a:r>
              <a:rPr lang="sr-Latn-RS" dirty="0"/>
              <a:t>) - rezultati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6B5C-05CE-38E2-CA07-52FBBEEA6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BF84B52-20F1-4F1A-1DEC-C18C8D21D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4260020"/>
              </p:ext>
            </p:extLst>
          </p:nvPr>
        </p:nvGraphicFramePr>
        <p:xfrm>
          <a:off x="1903382" y="2570921"/>
          <a:ext cx="8385235" cy="1716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3304">
                  <a:extLst>
                    <a:ext uri="{9D8B030D-6E8A-4147-A177-3AD203B41FA5}">
                      <a16:colId xmlns:a16="http://schemas.microsoft.com/office/drawing/2014/main" val="1359706969"/>
                    </a:ext>
                  </a:extLst>
                </a:gridCol>
                <a:gridCol w="1071852">
                  <a:extLst>
                    <a:ext uri="{9D8B030D-6E8A-4147-A177-3AD203B41FA5}">
                      <a16:colId xmlns:a16="http://schemas.microsoft.com/office/drawing/2014/main" val="466265158"/>
                    </a:ext>
                  </a:extLst>
                </a:gridCol>
                <a:gridCol w="984921">
                  <a:extLst>
                    <a:ext uri="{9D8B030D-6E8A-4147-A177-3AD203B41FA5}">
                      <a16:colId xmlns:a16="http://schemas.microsoft.com/office/drawing/2014/main" val="1721633302"/>
                    </a:ext>
                  </a:extLst>
                </a:gridCol>
                <a:gridCol w="984921">
                  <a:extLst>
                    <a:ext uri="{9D8B030D-6E8A-4147-A177-3AD203B41FA5}">
                      <a16:colId xmlns:a16="http://schemas.microsoft.com/office/drawing/2014/main" val="4280797110"/>
                    </a:ext>
                  </a:extLst>
                </a:gridCol>
                <a:gridCol w="1071852">
                  <a:extLst>
                    <a:ext uri="{9D8B030D-6E8A-4147-A177-3AD203B41FA5}">
                      <a16:colId xmlns:a16="http://schemas.microsoft.com/office/drawing/2014/main" val="773839799"/>
                    </a:ext>
                  </a:extLst>
                </a:gridCol>
                <a:gridCol w="1003417">
                  <a:extLst>
                    <a:ext uri="{9D8B030D-6E8A-4147-A177-3AD203B41FA5}">
                      <a16:colId xmlns:a16="http://schemas.microsoft.com/office/drawing/2014/main" val="2503293404"/>
                    </a:ext>
                  </a:extLst>
                </a:gridCol>
                <a:gridCol w="1003417">
                  <a:extLst>
                    <a:ext uri="{9D8B030D-6E8A-4147-A177-3AD203B41FA5}">
                      <a16:colId xmlns:a16="http://schemas.microsoft.com/office/drawing/2014/main" val="2224343127"/>
                    </a:ext>
                  </a:extLst>
                </a:gridCol>
                <a:gridCol w="1321551">
                  <a:extLst>
                    <a:ext uri="{9D8B030D-6E8A-4147-A177-3AD203B41FA5}">
                      <a16:colId xmlns:a16="http://schemas.microsoft.com/office/drawing/2014/main" val="2841866759"/>
                    </a:ext>
                  </a:extLst>
                </a:gridCol>
              </a:tblGrid>
              <a:tr h="1300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Test loss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Precision (Micro)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Recall (Micro)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F1-score (Micro)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Precision (Macro)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Recall (Macro)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F1-score (Macro)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Accuracy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420899"/>
                  </a:ext>
                </a:extLst>
              </a:tr>
              <a:tr h="416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0.6898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0.8157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0.7475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0.780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0.6612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402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02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3313-6DDA-4466-FABF-25AD39AC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Pore</a:t>
            </a:r>
            <a:r>
              <a:rPr lang="sr-Latn-RS" dirty="0"/>
              <a:t>đenje modela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7CDFD8-64BD-93D9-4E80-753EEC0CD4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200669"/>
              </p:ext>
            </p:extLst>
          </p:nvPr>
        </p:nvGraphicFramePr>
        <p:xfrm>
          <a:off x="2689951" y="2005551"/>
          <a:ext cx="7607432" cy="28468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5268">
                  <a:extLst>
                    <a:ext uri="{9D8B030D-6E8A-4147-A177-3AD203B41FA5}">
                      <a16:colId xmlns:a16="http://schemas.microsoft.com/office/drawing/2014/main" val="744073630"/>
                    </a:ext>
                  </a:extLst>
                </a:gridCol>
                <a:gridCol w="2536082">
                  <a:extLst>
                    <a:ext uri="{9D8B030D-6E8A-4147-A177-3AD203B41FA5}">
                      <a16:colId xmlns:a16="http://schemas.microsoft.com/office/drawing/2014/main" val="3313192017"/>
                    </a:ext>
                  </a:extLst>
                </a:gridCol>
                <a:gridCol w="2536082">
                  <a:extLst>
                    <a:ext uri="{9D8B030D-6E8A-4147-A177-3AD203B41FA5}">
                      <a16:colId xmlns:a16="http://schemas.microsoft.com/office/drawing/2014/main" val="2212147451"/>
                    </a:ext>
                  </a:extLst>
                </a:gridCol>
              </a:tblGrid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Metrika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Encoder model (BERT)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Generativni model (Qwen)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1283292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Micro Precision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0.9320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0.8157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2539007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Micro Recall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0.9122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0.7475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7365860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Micro F1-score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0.9220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0.780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2453973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Macro Precision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0.8924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6706858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Macro Recall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0.8523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3557335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Macro F1-score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0.8711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4418149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Accuracy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0.8350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0.6612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7516400"/>
                  </a:ext>
                </a:extLst>
              </a:tr>
              <a:tr h="3163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Loss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0.1558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0.6898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5540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4C1C43-3B8F-AC42-493C-20031B701B03}"/>
              </a:ext>
            </a:extLst>
          </p:cNvPr>
          <p:cNvSpPr txBox="1"/>
          <p:nvPr/>
        </p:nvSpPr>
        <p:spPr>
          <a:xfrm>
            <a:off x="2689951" y="5052767"/>
            <a:ext cx="760743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BERT pokazuje bolje rezultate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Visok F1-score (0.9220), nizak loss (stabilnije učenje)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Qwen pokazuje solidnu preciznost, zaostaje u recall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6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3D10-A9B4-C8DE-35DC-AB0E2CA5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razlika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3CBF8-AAF6-3F7B-E2ED-C73943852C7F}"/>
              </a:ext>
            </a:extLst>
          </p:cNvPr>
          <p:cNvSpPr txBox="1"/>
          <p:nvPr/>
        </p:nvSpPr>
        <p:spPr>
          <a:xfrm>
            <a:off x="1971943" y="2567387"/>
            <a:ext cx="4521724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r-Latn-RS" b="1" dirty="0"/>
              <a:t>BERT (Encoded based)</a:t>
            </a:r>
          </a:p>
          <a:p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Fine-tuning na datasetu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Direktna optimizacija klasifikacije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Stabilni sigmoid izlazi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8271C-FBA8-693F-582B-A58210AE9D65}"/>
              </a:ext>
            </a:extLst>
          </p:cNvPr>
          <p:cNvSpPr txBox="1"/>
          <p:nvPr/>
        </p:nvSpPr>
        <p:spPr>
          <a:xfrm>
            <a:off x="6878014" y="2567386"/>
            <a:ext cx="4521724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r-Latn-RS" b="1" dirty="0"/>
              <a:t>Qwen (Generative LLM)</a:t>
            </a:r>
          </a:p>
          <a:p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Zero shot pristup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Zavisi od prompta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Promenljiv izlaz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4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F1DA-1FFE-1FD8-0EBA-75F804B3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CE64-BB2C-2322-58B1-62475E74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Prednosti i nedostaci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D6F3D3-87C9-83CF-9135-33B886464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06039"/>
              </p:ext>
            </p:extLst>
          </p:nvPr>
        </p:nvGraphicFramePr>
        <p:xfrm>
          <a:off x="2221164" y="2398297"/>
          <a:ext cx="8486525" cy="3384248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551748">
                  <a:extLst>
                    <a:ext uri="{9D8B030D-6E8A-4147-A177-3AD203B41FA5}">
                      <a16:colId xmlns:a16="http://schemas.microsoft.com/office/drawing/2014/main" val="3972270991"/>
                    </a:ext>
                  </a:extLst>
                </a:gridCol>
                <a:gridCol w="1978259">
                  <a:extLst>
                    <a:ext uri="{9D8B030D-6E8A-4147-A177-3AD203B41FA5}">
                      <a16:colId xmlns:a16="http://schemas.microsoft.com/office/drawing/2014/main" val="3290035069"/>
                    </a:ext>
                  </a:extLst>
                </a:gridCol>
                <a:gridCol w="1978259">
                  <a:extLst>
                    <a:ext uri="{9D8B030D-6E8A-4147-A177-3AD203B41FA5}">
                      <a16:colId xmlns:a16="http://schemas.microsoft.com/office/drawing/2014/main" val="1461403796"/>
                    </a:ext>
                  </a:extLst>
                </a:gridCol>
                <a:gridCol w="1978259">
                  <a:extLst>
                    <a:ext uri="{9D8B030D-6E8A-4147-A177-3AD203B41FA5}">
                      <a16:colId xmlns:a16="http://schemas.microsoft.com/office/drawing/2014/main" val="80275950"/>
                    </a:ext>
                  </a:extLst>
                </a:gridCol>
              </a:tblGrid>
              <a:tr h="69485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Encoder model (BERT)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Generativni</a:t>
                      </a:r>
                      <a:r>
                        <a:rPr lang="en-US" sz="1600" kern="100" dirty="0">
                          <a:effectLst/>
                        </a:rPr>
                        <a:t> model (LLM prompt based)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088381"/>
                  </a:ext>
                </a:extLst>
              </a:tr>
              <a:tr h="2888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1" kern="100" dirty="0" err="1">
                          <a:effectLst/>
                        </a:rPr>
                        <a:t>Prednosti</a:t>
                      </a:r>
                      <a:endParaRPr lang="en-US" sz="1400" b="1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1" kern="100" dirty="0" err="1">
                          <a:effectLst/>
                        </a:rPr>
                        <a:t>Nedostaci</a:t>
                      </a:r>
                      <a:endParaRPr lang="en-US" sz="1400" b="1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1" kern="100">
                          <a:effectLst/>
                        </a:rPr>
                        <a:t>Prednosti</a:t>
                      </a:r>
                      <a:endParaRPr lang="en-US" sz="1400" b="1" i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1" kern="100" dirty="0" err="1">
                          <a:effectLst/>
                        </a:rPr>
                        <a:t>Nedostaci</a:t>
                      </a:r>
                      <a:endParaRPr lang="en-US" sz="1400" b="1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186295"/>
                  </a:ext>
                </a:extLst>
              </a:tr>
              <a:tr h="595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Visoka </a:t>
                      </a:r>
                      <a:r>
                        <a:rPr lang="en-US" sz="1200" b="0" kern="100" dirty="0" err="1">
                          <a:effectLst/>
                        </a:rPr>
                        <a:t>tačnost</a:t>
                      </a:r>
                      <a:r>
                        <a:rPr lang="en-US" sz="1200" b="0" kern="100" dirty="0">
                          <a:effectLst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</a:rPr>
                        <a:t>i</a:t>
                      </a:r>
                      <a:r>
                        <a:rPr lang="en-US" sz="1200" b="0" kern="100" dirty="0">
                          <a:effectLst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</a:rPr>
                        <a:t>stabilnost</a:t>
                      </a:r>
                      <a:endParaRPr lang="en-US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Zahteva trening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Ne zahteva trening (zero-shot)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Niža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tačnost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809512"/>
                  </a:ext>
                </a:extLst>
              </a:tr>
              <a:tr h="12092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 err="1">
                          <a:effectLst/>
                        </a:rPr>
                        <a:t>Efikasno</a:t>
                      </a:r>
                      <a:r>
                        <a:rPr lang="en-US" sz="1200" b="0" kern="100" dirty="0">
                          <a:effectLst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</a:rPr>
                        <a:t>učenje</a:t>
                      </a:r>
                      <a:r>
                        <a:rPr lang="en-US" sz="1200" b="0" kern="100" dirty="0">
                          <a:effectLst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</a:rPr>
                        <a:t>specifičnih</a:t>
                      </a:r>
                      <a:r>
                        <a:rPr lang="en-US" sz="1200" b="0" kern="100" dirty="0">
                          <a:effectLst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</a:rPr>
                        <a:t>obrazaca</a:t>
                      </a:r>
                      <a:endParaRPr lang="en-US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Manja fleksibilnost na nove zadatke bez ponovnog treninga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Fleksibilan za različite zadatke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Zavisnost od prompt engineeringa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3925958"/>
                  </a:ext>
                </a:extLst>
              </a:tr>
              <a:tr h="595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Lako proširiv na nove klase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Nestabilnost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izlaza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858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25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B9A8-31CB-24FE-E0B6-114EEAF9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	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92E3-E0AE-EEAF-A9CF-92F7CB1B5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Encoder-based model (BERT) je </a:t>
            </a:r>
            <a:r>
              <a:rPr lang="sr-Latn-RS" dirty="0"/>
              <a:t>pogodniji</a:t>
            </a:r>
            <a:r>
              <a:rPr lang="en-US" dirty="0"/>
              <a:t> za </a:t>
            </a:r>
            <a:r>
              <a:rPr lang="en-US" dirty="0" err="1"/>
              <a:t>ovaj</a:t>
            </a:r>
            <a:r>
              <a:rPr lang="en-US" dirty="0"/>
              <a:t> zadatak</a:t>
            </a:r>
            <a:r>
              <a:rPr lang="sr-Latn-RS" dirty="0"/>
              <a:t>.</a:t>
            </a:r>
          </a:p>
          <a:p>
            <a:r>
              <a:rPr lang="en-US" dirty="0" err="1"/>
              <a:t>Generativni</a:t>
            </a:r>
            <a:r>
              <a:rPr lang="en-US" dirty="0"/>
              <a:t> model je </a:t>
            </a:r>
            <a:r>
              <a:rPr lang="en-US" dirty="0" err="1"/>
              <a:t>koristan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dovoljno</a:t>
            </a:r>
            <a:r>
              <a:rPr lang="en-US" dirty="0"/>
              <a:t> podataka</a:t>
            </a:r>
            <a:r>
              <a:rPr lang="sr-Latn-RS" dirty="0"/>
              <a:t>.</a:t>
            </a:r>
          </a:p>
          <a:p>
            <a:r>
              <a:rPr lang="sr-Latn-RS" dirty="0"/>
              <a:t>Kompromis: </a:t>
            </a:r>
            <a:r>
              <a:rPr lang="sr-Latn-RS" b="1" dirty="0"/>
              <a:t>tačnost vs fleksibilnost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850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B4300D-28F5-3B27-AABF-1BE172D79300}"/>
              </a:ext>
            </a:extLst>
          </p:cNvPr>
          <p:cNvSpPr txBox="1"/>
          <p:nvPr/>
        </p:nvSpPr>
        <p:spPr>
          <a:xfrm>
            <a:off x="2677211" y="3105834"/>
            <a:ext cx="779596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sr-Latn-RS" sz="3600" dirty="0"/>
              <a:t>Hvala na pažnji!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0024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543</TotalTime>
  <Words>710</Words>
  <Application>Microsoft Office PowerPoint</Application>
  <PresentationFormat>Widescreen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Corbel</vt:lpstr>
      <vt:lpstr>Parallax</vt:lpstr>
      <vt:lpstr>Implementacija i poređenje encoder i generativnih modela</vt:lpstr>
      <vt:lpstr>Problem i cilj</vt:lpstr>
      <vt:lpstr>Tip problema</vt:lpstr>
      <vt:lpstr>Korišćene tehnologije</vt:lpstr>
      <vt:lpstr>Skup podataka</vt:lpstr>
      <vt:lpstr>Priprema podataka</vt:lpstr>
      <vt:lpstr>Encoder model (BERT)</vt:lpstr>
      <vt:lpstr>Encoder model (BERT)</vt:lpstr>
      <vt:lpstr>Encoder model (BERT) - rezultati</vt:lpstr>
      <vt:lpstr>Generativni prompt-based model (Qwen LLM)</vt:lpstr>
      <vt:lpstr>Zero-shot pristup</vt:lpstr>
      <vt:lpstr>Izgled prompta</vt:lpstr>
      <vt:lpstr>Generativni model (QWEN LLM) - rezultati</vt:lpstr>
      <vt:lpstr>Poređenje modela</vt:lpstr>
      <vt:lpstr>Analiza razlika</vt:lpstr>
      <vt:lpstr>Prednosti i nedostaci</vt:lpstr>
      <vt:lpstr> Zaključak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Ramovic</dc:creator>
  <cp:lastModifiedBy>Benjamin Ramovic</cp:lastModifiedBy>
  <cp:revision>5</cp:revision>
  <dcterms:created xsi:type="dcterms:W3CDTF">2026-06-18T19:24:14Z</dcterms:created>
  <dcterms:modified xsi:type="dcterms:W3CDTF">2026-06-20T16:03:23Z</dcterms:modified>
</cp:coreProperties>
</file>